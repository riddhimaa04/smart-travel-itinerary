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ripEase Viva" id="{6a6cd793-131e-3aaf-9196-d5c3645d82a0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TripEase is a trip planning and itinerary management platform — planning, not booking.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destinations, itinerary, budget and packing are handled in separate places. TripEase brings them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eight steps; this flow is what the Figma user flow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customer features plus admin management — all from the SRS.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runs entirely on the client. The service layer lets us swap mock data for REST APIs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today: Figma user flow, then the static HTML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tagline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7A43"/>
                </a:solidFill>
              </a:rPr>
              <a:t>TripEase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F3D2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2926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D3A8"/>
                </a:solidFill>
              </a:rPr>
              <a:t>TripEase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D3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1234440"/>
            <a:ext cx="44805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651760" cy="274320"/>
          </a:xfrm>
          <a:prstGeom prst="roundRect">
            <a:avLst>
              <a:gd name="adj" fmla="val 166667"/>
            </a:avLst>
          </a:prstGeom>
          <a:solidFill>
            <a:srgbClr val="1B7A4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731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</a:rPr>
              <a:t>SOFTWARE ENGINEERING PROJECT</a:t>
            </a:r>
            <a:endParaRPr lang="en-US" sz="105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123444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TripEase</a:t>
            </a:r>
            <a:endParaRPr lang="en-US" sz="4000" dirty="0"/>
          </a:p>
          <a:p>
            <a:pPr algn="l" indent="0" marL="0">
              <a:buNone/>
            </a:pPr>
            <a:r>
              <a:rPr lang="en-US" sz="2000" b="1" dirty="0">
                <a:solidFill>
                  <a:srgbClr val="8FD3A8"/>
                </a:solidFill>
              </a:rPr>
              <a:t>Smart Trip Management System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Plan. Organize. Explore.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D3A8"/>
                </a:solidFill>
              </a:rPr>
              <a:t>Phase 1 · Frontend with Mock JSON + LocalStorage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983480" y="685800"/>
            <a:ext cx="3931920" cy="3931920"/>
          </a:xfrm>
          <a:prstGeom prst="ellipse">
            <a:avLst/>
          </a:prstGeom>
          <a:solidFill>
            <a:srgbClr val="1B7A43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532120" y="1234440"/>
            <a:ext cx="2834640" cy="2834640"/>
          </a:xfrm>
          <a:prstGeom prst="ellipse">
            <a:avLst/>
          </a:prstGeom>
          <a:solidFill>
            <a:srgbClr val="2E9E5B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172200" y="1874520"/>
            <a:ext cx="1554480" cy="15544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0" descr="FiMapP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820" y="2263140"/>
            <a:ext cx="777240" cy="7772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257800" y="960120"/>
            <a:ext cx="640080" cy="64008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2" name="Image 1" descr="FiCalend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820" y="1120140"/>
            <a:ext cx="320040" cy="3200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001000" y="960120"/>
            <a:ext cx="640080" cy="64008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4" name="Image 2" descr="FiDollarSig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020" y="1120140"/>
            <a:ext cx="320040" cy="3200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001000" y="3703320"/>
            <a:ext cx="640080" cy="64008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6" name="Image 3" descr="FiCheckSqua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3863340"/>
            <a:ext cx="320040" cy="3200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257800" y="3703320"/>
            <a:ext cx="640080" cy="64008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8" name="Image 4" descr="FiHear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820" y="386334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3D2E"/>
                </a:solidFill>
              </a:rPr>
              <a:t>The Problem &amp; Our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749040" cy="3383280"/>
          </a:xfrm>
          <a:prstGeom prst="roundRect">
            <a:avLst>
              <a:gd name="adj" fmla="val 3243"/>
            </a:avLst>
          </a:prstGeom>
          <a:solidFill>
            <a:srgbClr val="F1F5F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B5D54"/>
                </a:solidFill>
              </a:rPr>
              <a:t>Travel planning is scattered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32918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965960"/>
            <a:ext cx="365760" cy="365760"/>
          </a:xfrm>
          <a:prstGeom prst="ellipse">
            <a:avLst/>
          </a:prstGeom>
          <a:solidFill>
            <a:srgbClr val="E4E9E6"/>
          </a:solidFill>
          <a:ln/>
        </p:spPr>
      </p:sp>
      <p:pic>
        <p:nvPicPr>
          <p:cNvPr id="7" name="Image 0" descr="FiMapPi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574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19476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22"/>
                </a:solidFill>
              </a:rPr>
              <a:t>Destinations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21762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D54"/>
                </a:solidFill>
              </a:rPr>
              <a:t>Researched in many places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7240" y="2532888"/>
            <a:ext cx="32918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2624328"/>
            <a:ext cx="365760" cy="365760"/>
          </a:xfrm>
          <a:prstGeom prst="ellipse">
            <a:avLst/>
          </a:prstGeom>
          <a:solidFill>
            <a:srgbClr val="E4E9E6"/>
          </a:solidFill>
          <a:ln/>
        </p:spPr>
      </p:sp>
      <p:pic>
        <p:nvPicPr>
          <p:cNvPr id="12" name="Image 1" descr="FiCalend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715768"/>
            <a:ext cx="182880" cy="1828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17320" y="2606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22"/>
                </a:solidFill>
              </a:rPr>
              <a:t>Itinerary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417320" y="28346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D54"/>
                </a:solidFill>
              </a:rPr>
              <a:t>Plans kept separately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77240" y="3191256"/>
            <a:ext cx="32918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3282696"/>
            <a:ext cx="365760" cy="365760"/>
          </a:xfrm>
          <a:prstGeom prst="ellipse">
            <a:avLst/>
          </a:prstGeom>
          <a:solidFill>
            <a:srgbClr val="E4E9E6"/>
          </a:solidFill>
          <a:ln/>
        </p:spPr>
      </p:sp>
      <p:pic>
        <p:nvPicPr>
          <p:cNvPr id="17" name="Image 2" descr="FiDollarSig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374136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32644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22"/>
                </a:solidFill>
              </a:rPr>
              <a:t>Budget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417320" y="34930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D54"/>
                </a:solidFill>
              </a:rPr>
              <a:t>Costs tracked on their own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77240" y="3849624"/>
            <a:ext cx="3291840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4400" y="3941064"/>
            <a:ext cx="365760" cy="365760"/>
          </a:xfrm>
          <a:prstGeom prst="ellipse">
            <a:avLst/>
          </a:prstGeom>
          <a:solidFill>
            <a:srgbClr val="E4E9E6"/>
          </a:solidFill>
          <a:ln/>
        </p:spPr>
      </p:sp>
      <p:pic>
        <p:nvPicPr>
          <p:cNvPr id="22" name="Image 3" descr="FiCheckSqua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032504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17320" y="39227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22"/>
                </a:solidFill>
              </a:rPr>
              <a:t>Packing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1417320" y="41513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D54"/>
                </a:solidFill>
              </a:rPr>
              <a:t>Lists kept elsewhere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411980" y="2628900"/>
            <a:ext cx="502920" cy="50292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26" name="Image 4" descr="FiArrowRigh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7710" y="2754630"/>
            <a:ext cx="251460" cy="25146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029200" y="118872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1B7A43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28" name="Text 21"/>
          <p:cNvSpPr txBox="1"/>
          <p:nvPr/>
        </p:nvSpPr>
        <p:spPr>
          <a:xfrm>
            <a:off x="530352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TripEase</a:t>
            </a:r>
            <a:endParaRPr lang="en-US" sz="2200" dirty="0"/>
          </a:p>
        </p:txBody>
      </p:sp>
      <p:sp>
        <p:nvSpPr>
          <p:cNvPr id="29" name="Text 22"/>
          <p:cNvSpPr txBox="1"/>
          <p:nvPr/>
        </p:nvSpPr>
        <p:spPr>
          <a:xfrm>
            <a:off x="5303520" y="1755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D3A8"/>
                </a:solidFill>
              </a:rPr>
              <a:t>One centralized platform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5349240" y="2286000"/>
            <a:ext cx="274320" cy="274320"/>
          </a:xfrm>
          <a:prstGeom prst="ellipse">
            <a:avLst/>
          </a:prstGeom>
          <a:solidFill>
            <a:srgbClr val="8FD3A8"/>
          </a:solidFill>
          <a:ln/>
        </p:spPr>
      </p:sp>
      <p:pic>
        <p:nvPicPr>
          <p:cNvPr id="31" name="Image 5" descr="Fi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7820" y="2354580"/>
            <a:ext cx="137160" cy="1371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76072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Discover destinations</a:t>
            </a:r>
            <a:endParaRPr lang="en-US" sz="1400" dirty="0"/>
          </a:p>
        </p:txBody>
      </p:sp>
      <p:sp>
        <p:nvSpPr>
          <p:cNvPr id="33" name="Shape 25"/>
          <p:cNvSpPr/>
          <p:nvPr/>
        </p:nvSpPr>
        <p:spPr>
          <a:xfrm>
            <a:off x="5349240" y="2743200"/>
            <a:ext cx="274320" cy="274320"/>
          </a:xfrm>
          <a:prstGeom prst="ellipse">
            <a:avLst/>
          </a:prstGeom>
          <a:solidFill>
            <a:srgbClr val="8FD3A8"/>
          </a:solidFill>
          <a:ln/>
        </p:spPr>
      </p:sp>
      <p:pic>
        <p:nvPicPr>
          <p:cNvPr id="34" name="Image 6" descr="Fi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7820" y="2811780"/>
            <a:ext cx="137160" cy="13716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576072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Build a day-wise itinerary</a:t>
            </a:r>
            <a:endParaRPr lang="en-US" sz="1400" dirty="0"/>
          </a:p>
        </p:txBody>
      </p:sp>
      <p:sp>
        <p:nvSpPr>
          <p:cNvPr id="36" name="Shape 27"/>
          <p:cNvSpPr/>
          <p:nvPr/>
        </p:nvSpPr>
        <p:spPr>
          <a:xfrm>
            <a:off x="5349240" y="3200400"/>
            <a:ext cx="274320" cy="274320"/>
          </a:xfrm>
          <a:prstGeom prst="ellipse">
            <a:avLst/>
          </a:prstGeom>
          <a:solidFill>
            <a:srgbClr val="8FD3A8"/>
          </a:solidFill>
          <a:ln/>
        </p:spPr>
      </p:sp>
      <p:pic>
        <p:nvPicPr>
          <p:cNvPr id="37" name="Image 7" descr="FiCheck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7820" y="3268980"/>
            <a:ext cx="137160" cy="137160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576072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Plan the budget</a:t>
            </a:r>
            <a:endParaRPr lang="en-US" sz="1400" dirty="0"/>
          </a:p>
        </p:txBody>
      </p:sp>
      <p:sp>
        <p:nvSpPr>
          <p:cNvPr id="39" name="Shape 29"/>
          <p:cNvSpPr/>
          <p:nvPr/>
        </p:nvSpPr>
        <p:spPr>
          <a:xfrm>
            <a:off x="5349240" y="3657600"/>
            <a:ext cx="274320" cy="274320"/>
          </a:xfrm>
          <a:prstGeom prst="ellipse">
            <a:avLst/>
          </a:prstGeom>
          <a:solidFill>
            <a:srgbClr val="8FD3A8"/>
          </a:solidFill>
          <a:ln/>
        </p:spPr>
      </p:sp>
      <p:pic>
        <p:nvPicPr>
          <p:cNvPr id="40" name="Image 8" descr="FiChec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17820" y="3726180"/>
            <a:ext cx="137160" cy="137160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576072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Prepare a packing checklist</a:t>
            </a:r>
            <a:endParaRPr lang="en-US" sz="1400" dirty="0"/>
          </a:p>
        </p:txBody>
      </p:sp>
      <p:sp>
        <p:nvSpPr>
          <p:cNvPr id="42" name="Shape 31"/>
          <p:cNvSpPr/>
          <p:nvPr/>
        </p:nvSpPr>
        <p:spPr>
          <a:xfrm>
            <a:off x="5349240" y="4114800"/>
            <a:ext cx="274320" cy="274320"/>
          </a:xfrm>
          <a:prstGeom prst="ellipse">
            <a:avLst/>
          </a:prstGeom>
          <a:solidFill>
            <a:srgbClr val="8FD3A8"/>
          </a:solidFill>
          <a:ln/>
        </p:spPr>
      </p:sp>
      <p:pic>
        <p:nvPicPr>
          <p:cNvPr id="43" name="Image 9" descr="FiCheck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7820" y="4183380"/>
            <a:ext cx="137160" cy="137160"/>
          </a:xfrm>
          <a:prstGeom prst="rect">
            <a:avLst/>
          </a:prstGeom>
        </p:spPr>
      </p:pic>
      <p:sp>
        <p:nvSpPr>
          <p:cNvPr id="44" name="Text 32"/>
          <p:cNvSpPr txBox="1"/>
          <p:nvPr/>
        </p:nvSpPr>
        <p:spPr>
          <a:xfrm>
            <a:off x="576072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Manage trips in one dashboard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3D2E"/>
                </a:solidFill>
              </a:rPr>
              <a:t>Customer User Journey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188720"/>
            <a:ext cx="1783080" cy="1645920"/>
          </a:xfrm>
          <a:prstGeom prst="roundRect">
            <a:avLst>
              <a:gd name="adj" fmla="val 6667"/>
            </a:avLst>
          </a:prstGeom>
          <a:solidFill>
            <a:srgbClr val="F6FAF7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54380" y="1348740"/>
            <a:ext cx="502920" cy="502920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5" name="Image 0" descr="Fi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4744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1325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9E5B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116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22"/>
                </a:solidFill>
              </a:rPr>
              <a:t>Discover Destination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957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D54"/>
                </a:solidFill>
              </a:rPr>
              <a:t>Search &amp; filter</a:t>
            </a:r>
            <a:endParaRPr lang="en-US" sz="1050" dirty="0"/>
          </a:p>
        </p:txBody>
      </p:sp>
      <p:pic>
        <p:nvPicPr>
          <p:cNvPr id="9" name="Image 1" descr="FiChevronR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897380"/>
            <a:ext cx="228600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651760" y="1188720"/>
            <a:ext cx="1783080" cy="1645920"/>
          </a:xfrm>
          <a:prstGeom prst="roundRect">
            <a:avLst>
              <a:gd name="adj" fmla="val 6667"/>
            </a:avLst>
          </a:prstGeom>
          <a:solidFill>
            <a:srgbClr val="F6FAF7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811780" y="1348740"/>
            <a:ext cx="502920" cy="502920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12" name="Image 2" descr="FiFileTex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510" y="147447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931920" y="1325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9E5B"/>
                </a:solidFill>
              </a:rPr>
              <a:t>02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2788920" y="20116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22"/>
                </a:solidFill>
              </a:rPr>
              <a:t>Explore Details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2788920" y="23957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D54"/>
                </a:solidFill>
              </a:rPr>
              <a:t>Gallery &amp; highlights</a:t>
            </a:r>
            <a:endParaRPr lang="en-US" sz="1050" dirty="0"/>
          </a:p>
        </p:txBody>
      </p:sp>
      <p:pic>
        <p:nvPicPr>
          <p:cNvPr id="16" name="Image 3" descr="FiChevronRigh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1897380"/>
            <a:ext cx="228600" cy="2286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709160" y="1188720"/>
            <a:ext cx="1783080" cy="1645920"/>
          </a:xfrm>
          <a:prstGeom prst="roundRect">
            <a:avLst>
              <a:gd name="adj" fmla="val 6667"/>
            </a:avLst>
          </a:prstGeom>
          <a:solidFill>
            <a:srgbClr val="F6FAF7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869180" y="1348740"/>
            <a:ext cx="502920" cy="502920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19" name="Image 4" descr="FiPlusCircl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4910" y="1474470"/>
            <a:ext cx="251460" cy="2514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989320" y="1325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9E5B"/>
                </a:solidFill>
              </a:rPr>
              <a:t>03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4846320" y="20116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22"/>
                </a:solidFill>
              </a:rPr>
              <a:t>Create Trip</a:t>
            </a:r>
            <a:endParaRPr lang="en-US" sz="1250" dirty="0"/>
          </a:p>
        </p:txBody>
      </p:sp>
      <p:sp>
        <p:nvSpPr>
          <p:cNvPr id="22" name="Text 15"/>
          <p:cNvSpPr txBox="1"/>
          <p:nvPr/>
        </p:nvSpPr>
        <p:spPr>
          <a:xfrm>
            <a:off x="4846320" y="23957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D54"/>
                </a:solidFill>
              </a:rPr>
              <a:t>Pick a destination</a:t>
            </a:r>
            <a:endParaRPr lang="en-US" sz="1050" dirty="0"/>
          </a:p>
        </p:txBody>
      </p:sp>
      <p:pic>
        <p:nvPicPr>
          <p:cNvPr id="23" name="Image 5" descr="FiChevronRigh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1897380"/>
            <a:ext cx="228600" cy="22860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766560" y="1188720"/>
            <a:ext cx="1783080" cy="1645920"/>
          </a:xfrm>
          <a:prstGeom prst="roundRect">
            <a:avLst>
              <a:gd name="adj" fmla="val 6667"/>
            </a:avLst>
          </a:prstGeom>
          <a:solidFill>
            <a:srgbClr val="E7F5EC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6926580" y="1348740"/>
            <a:ext cx="502920" cy="502920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26" name="Image 6" descr="FiSlider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2310" y="1474470"/>
            <a:ext cx="251460" cy="25146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8046720" y="1325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9E5B"/>
                </a:solidFill>
              </a:rPr>
              <a:t>04</a:t>
            </a:r>
            <a:endParaRPr lang="en-US" sz="1200" dirty="0"/>
          </a:p>
        </p:txBody>
      </p:sp>
      <p:sp>
        <p:nvSpPr>
          <p:cNvPr id="28" name="Text 19"/>
          <p:cNvSpPr txBox="1"/>
          <p:nvPr/>
        </p:nvSpPr>
        <p:spPr>
          <a:xfrm>
            <a:off x="6903720" y="20116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22"/>
                </a:solidFill>
              </a:rPr>
              <a:t>Set Trip Details</a:t>
            </a:r>
            <a:endParaRPr lang="en-US" sz="1250" dirty="0"/>
          </a:p>
        </p:txBody>
      </p:sp>
      <p:sp>
        <p:nvSpPr>
          <p:cNvPr id="29" name="Text 20"/>
          <p:cNvSpPr txBox="1"/>
          <p:nvPr/>
        </p:nvSpPr>
        <p:spPr>
          <a:xfrm>
            <a:off x="6903720" y="23957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D54"/>
                </a:solidFill>
              </a:rPr>
              <a:t>Dates · Travelers · Budget · Interests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594360" y="3017520"/>
            <a:ext cx="1783080" cy="1645920"/>
          </a:xfrm>
          <a:prstGeom prst="roundRect">
            <a:avLst>
              <a:gd name="adj" fmla="val 6667"/>
            </a:avLst>
          </a:prstGeom>
          <a:solidFill>
            <a:srgbClr val="F6FAF7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754380" y="3177540"/>
            <a:ext cx="502920" cy="502920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32" name="Image 7" descr="FiLis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110" y="3303270"/>
            <a:ext cx="251460" cy="25146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874520" y="3154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9E5B"/>
                </a:solidFill>
              </a:rPr>
              <a:t>05</a:t>
            </a:r>
            <a:endParaRPr lang="en-US" sz="1200" dirty="0"/>
          </a:p>
        </p:txBody>
      </p:sp>
      <p:sp>
        <p:nvSpPr>
          <p:cNvPr id="34" name="Text 24"/>
          <p:cNvSpPr txBox="1"/>
          <p:nvPr/>
        </p:nvSpPr>
        <p:spPr>
          <a:xfrm>
            <a:off x="731520" y="38404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22"/>
                </a:solidFill>
              </a:rPr>
              <a:t>Build Itinerary</a:t>
            </a:r>
            <a:endParaRPr lang="en-US" sz="1250" dirty="0"/>
          </a:p>
        </p:txBody>
      </p:sp>
      <p:sp>
        <p:nvSpPr>
          <p:cNvPr id="35" name="Text 25"/>
          <p:cNvSpPr txBox="1"/>
          <p:nvPr/>
        </p:nvSpPr>
        <p:spPr>
          <a:xfrm>
            <a:off x="731520" y="42245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D54"/>
                </a:solidFill>
              </a:rPr>
              <a:t>Day-wise activities</a:t>
            </a:r>
            <a:endParaRPr lang="en-US" sz="1050" dirty="0"/>
          </a:p>
        </p:txBody>
      </p:sp>
      <p:pic>
        <p:nvPicPr>
          <p:cNvPr id="36" name="Image 8" descr="FiChevronRigh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00300" y="3726180"/>
            <a:ext cx="228600" cy="228600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2651760" y="3017520"/>
            <a:ext cx="1783080" cy="1645920"/>
          </a:xfrm>
          <a:prstGeom prst="roundRect">
            <a:avLst>
              <a:gd name="adj" fmla="val 6667"/>
            </a:avLst>
          </a:prstGeom>
          <a:solidFill>
            <a:srgbClr val="F6FAF7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2811780" y="3177540"/>
            <a:ext cx="502920" cy="502920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39" name="Image 9" descr="FiDollarSig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7510" y="3303270"/>
            <a:ext cx="251460" cy="251460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3931920" y="3154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9E5B"/>
                </a:solidFill>
              </a:rPr>
              <a:t>06</a:t>
            </a:r>
            <a:endParaRPr lang="en-US" sz="1200" dirty="0"/>
          </a:p>
        </p:txBody>
      </p:sp>
      <p:sp>
        <p:nvSpPr>
          <p:cNvPr id="41" name="Text 29"/>
          <p:cNvSpPr txBox="1"/>
          <p:nvPr/>
        </p:nvSpPr>
        <p:spPr>
          <a:xfrm>
            <a:off x="2788920" y="38404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22"/>
                </a:solidFill>
              </a:rPr>
              <a:t>Track Budget &amp; Packing</a:t>
            </a:r>
            <a:endParaRPr lang="en-US" sz="1250" dirty="0"/>
          </a:p>
        </p:txBody>
      </p:sp>
      <p:sp>
        <p:nvSpPr>
          <p:cNvPr id="42" name="Text 30"/>
          <p:cNvSpPr txBox="1"/>
          <p:nvPr/>
        </p:nvSpPr>
        <p:spPr>
          <a:xfrm>
            <a:off x="2788920" y="42245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D54"/>
                </a:solidFill>
              </a:rPr>
              <a:t>Plan costs, tick items</a:t>
            </a:r>
            <a:endParaRPr lang="en-US" sz="1050" dirty="0"/>
          </a:p>
        </p:txBody>
      </p:sp>
      <p:pic>
        <p:nvPicPr>
          <p:cNvPr id="43" name="Image 10" descr="FiChevronRigh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7700" y="3726180"/>
            <a:ext cx="228600" cy="228600"/>
          </a:xfrm>
          <a:prstGeom prst="rect">
            <a:avLst/>
          </a:prstGeom>
        </p:spPr>
      </p:pic>
      <p:sp>
        <p:nvSpPr>
          <p:cNvPr id="44" name="Shape 31"/>
          <p:cNvSpPr/>
          <p:nvPr/>
        </p:nvSpPr>
        <p:spPr>
          <a:xfrm>
            <a:off x="4709160" y="3017520"/>
            <a:ext cx="1783080" cy="1645920"/>
          </a:xfrm>
          <a:prstGeom prst="roundRect">
            <a:avLst>
              <a:gd name="adj" fmla="val 6667"/>
            </a:avLst>
          </a:prstGeom>
          <a:solidFill>
            <a:srgbClr val="F6FAF7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45" name="Shape 32"/>
          <p:cNvSpPr/>
          <p:nvPr/>
        </p:nvSpPr>
        <p:spPr>
          <a:xfrm>
            <a:off x="4869180" y="3177540"/>
            <a:ext cx="502920" cy="502920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46" name="Image 11" descr="FiHeart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94910" y="3303270"/>
            <a:ext cx="251460" cy="251460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5989320" y="3154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9E5B"/>
                </a:solidFill>
              </a:rPr>
              <a:t>07</a:t>
            </a:r>
            <a:endParaRPr lang="en-US" sz="1200" dirty="0"/>
          </a:p>
        </p:txBody>
      </p:sp>
      <p:sp>
        <p:nvSpPr>
          <p:cNvPr id="48" name="Text 34"/>
          <p:cNvSpPr txBox="1"/>
          <p:nvPr/>
        </p:nvSpPr>
        <p:spPr>
          <a:xfrm>
            <a:off x="4846320" y="38404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22"/>
                </a:solidFill>
              </a:rPr>
              <a:t>Favorites</a:t>
            </a:r>
            <a:endParaRPr lang="en-US" sz="1250" dirty="0"/>
          </a:p>
        </p:txBody>
      </p:sp>
      <p:sp>
        <p:nvSpPr>
          <p:cNvPr id="49" name="Text 35"/>
          <p:cNvSpPr txBox="1"/>
          <p:nvPr/>
        </p:nvSpPr>
        <p:spPr>
          <a:xfrm>
            <a:off x="4846320" y="42245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B5D54"/>
                </a:solidFill>
              </a:rPr>
              <a:t>Save destinations</a:t>
            </a:r>
            <a:endParaRPr lang="en-US" sz="1050" dirty="0"/>
          </a:p>
        </p:txBody>
      </p:sp>
      <p:pic>
        <p:nvPicPr>
          <p:cNvPr id="50" name="Image 12" descr="FiChevronRight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5100" y="3726180"/>
            <a:ext cx="228600" cy="228600"/>
          </a:xfrm>
          <a:prstGeom prst="rect">
            <a:avLst/>
          </a:prstGeom>
        </p:spPr>
      </p:pic>
      <p:sp>
        <p:nvSpPr>
          <p:cNvPr id="51" name="Shape 36"/>
          <p:cNvSpPr/>
          <p:nvPr/>
        </p:nvSpPr>
        <p:spPr>
          <a:xfrm>
            <a:off x="6766560" y="3017520"/>
            <a:ext cx="1783080" cy="1645920"/>
          </a:xfrm>
          <a:prstGeom prst="roundRect">
            <a:avLst>
              <a:gd name="adj" fmla="val 6667"/>
            </a:avLst>
          </a:prstGeom>
          <a:solidFill>
            <a:srgbClr val="1B7A43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52" name="Shape 37"/>
          <p:cNvSpPr/>
          <p:nvPr/>
        </p:nvSpPr>
        <p:spPr>
          <a:xfrm>
            <a:off x="6926580" y="31775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3" name="Image 13" descr="FiGrid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52310" y="3303270"/>
            <a:ext cx="251460" cy="251460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8046720" y="31546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FD3A8"/>
                </a:solidFill>
              </a:rPr>
              <a:t>08</a:t>
            </a:r>
            <a:endParaRPr lang="en-US" sz="1200" dirty="0"/>
          </a:p>
        </p:txBody>
      </p:sp>
      <p:sp>
        <p:nvSpPr>
          <p:cNvPr id="55" name="Text 39"/>
          <p:cNvSpPr txBox="1"/>
          <p:nvPr/>
        </p:nvSpPr>
        <p:spPr>
          <a:xfrm>
            <a:off x="6903720" y="38404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Personal Dashboard</a:t>
            </a:r>
            <a:endParaRPr lang="en-US" sz="1250" dirty="0"/>
          </a:p>
        </p:txBody>
      </p:sp>
      <p:sp>
        <p:nvSpPr>
          <p:cNvPr id="56" name="Text 40"/>
          <p:cNvSpPr txBox="1"/>
          <p:nvPr/>
        </p:nvSpPr>
        <p:spPr>
          <a:xfrm>
            <a:off x="6903720" y="422452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D3A8"/>
                </a:solidFill>
              </a:rPr>
              <a:t>Upcoming · Ongoing · Completed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3D2E"/>
                </a:solidFill>
              </a:rPr>
              <a:t>Key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6FAF7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03504" y="1335024"/>
            <a:ext cx="530352" cy="530352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5" name="Image 0" descr="Fi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467612"/>
            <a:ext cx="265176" cy="265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19933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22"/>
                </a:solidFill>
              </a:rPr>
              <a:t>Discovery &amp; Search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3591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D54"/>
                </a:solidFill>
              </a:rPr>
              <a:t>Search, category &amp; budget filters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0320" y="11887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6FAF7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06624" y="1335024"/>
            <a:ext cx="530352" cy="530352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10" name="Image 1" descr="FiMa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9212" y="1467612"/>
            <a:ext cx="265176" cy="2651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97480" y="19933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22"/>
                </a:solidFill>
              </a:rPr>
              <a:t>Guided Trip Creation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2697480" y="23591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D54"/>
                </a:solidFill>
              </a:rPr>
              <a:t>Dates, travelers, budget, interests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63440" y="11887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6FAF7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09744" y="1335024"/>
            <a:ext cx="530352" cy="530352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15" name="Image 2" descr="FiLi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332" y="1467612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00600" y="19933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22"/>
                </a:solidFill>
              </a:rPr>
              <a:t>Itinerary Builder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4800600" y="23591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D54"/>
                </a:solidFill>
              </a:rPr>
              <a:t>Add, edit, delete &amp; reorder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766560" y="11887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6FAF7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912864" y="1335024"/>
            <a:ext cx="530352" cy="530352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20" name="Image 3" descr="FiDollarSig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452" y="1467612"/>
            <a:ext cx="265176" cy="26517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03720" y="19933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22"/>
                </a:solidFill>
              </a:rPr>
              <a:t>Budget Planner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6903720" y="23591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D54"/>
                </a:solidFill>
              </a:rPr>
              <a:t>Planned vs. total, by category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30175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6FAF7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03504" y="3163824"/>
            <a:ext cx="530352" cy="530352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25" name="Image 4" descr="FiCheckSquar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3296412"/>
            <a:ext cx="265176" cy="265176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94360" y="3822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22"/>
                </a:solidFill>
              </a:rPr>
              <a:t>Packing Checklist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594360" y="41879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D54"/>
                </a:solidFill>
              </a:rPr>
              <a:t>Default template + custom items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2560320" y="30175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6FAF7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2706624" y="3163824"/>
            <a:ext cx="530352" cy="530352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30" name="Image 5" descr="FiHear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9212" y="3296412"/>
            <a:ext cx="265176" cy="265176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697480" y="3822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22"/>
                </a:solidFill>
              </a:rPr>
              <a:t>Favorites / Wishlist</a:t>
            </a:r>
            <a:endParaRPr lang="en-US" sz="1350" dirty="0"/>
          </a:p>
        </p:txBody>
      </p:sp>
      <p:sp>
        <p:nvSpPr>
          <p:cNvPr id="32" name="Text 24"/>
          <p:cNvSpPr txBox="1"/>
          <p:nvPr/>
        </p:nvSpPr>
        <p:spPr>
          <a:xfrm>
            <a:off x="2697480" y="41879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D54"/>
                </a:solidFill>
              </a:rPr>
              <a:t>Save destinations for later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4663440" y="30175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6FAF7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4809744" y="3163824"/>
            <a:ext cx="530352" cy="530352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35" name="Image 6" descr="FiGri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2332" y="3296412"/>
            <a:ext cx="265176" cy="26517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800600" y="3822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22"/>
                </a:solidFill>
              </a:rPr>
              <a:t>Trip Dashboard</a:t>
            </a:r>
            <a:endParaRPr lang="en-US" sz="1350" dirty="0"/>
          </a:p>
        </p:txBody>
      </p:sp>
      <p:sp>
        <p:nvSpPr>
          <p:cNvPr id="37" name="Text 28"/>
          <p:cNvSpPr txBox="1"/>
          <p:nvPr/>
        </p:nvSpPr>
        <p:spPr>
          <a:xfrm>
            <a:off x="4800600" y="41879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D54"/>
                </a:solidFill>
              </a:rPr>
              <a:t>Upcoming, ongoing, completed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6766560" y="30175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0F3D2E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6912864" y="3163824"/>
            <a:ext cx="530352" cy="530352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40" name="Image 7" descr="FiSetting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5452" y="3296412"/>
            <a:ext cx="265176" cy="265176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903720" y="38221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Admin Management</a:t>
            </a:r>
            <a:endParaRPr lang="en-US" sz="1350" dirty="0"/>
          </a:p>
        </p:txBody>
      </p:sp>
      <p:sp>
        <p:nvSpPr>
          <p:cNvPr id="42" name="Text 32"/>
          <p:cNvSpPr txBox="1"/>
          <p:nvPr/>
        </p:nvSpPr>
        <p:spPr>
          <a:xfrm>
            <a:off x="6903720" y="418795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D3A8"/>
                </a:solidFill>
              </a:rPr>
              <a:t>Destinations, activities, featured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3D2E"/>
                </a:solidFill>
              </a:rPr>
              <a:t>Technology &amp;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828800" cy="274320"/>
          </a:xfrm>
          <a:prstGeom prst="roundRect">
            <a:avLst>
              <a:gd name="adj" fmla="val 166667"/>
            </a:avLst>
          </a:prstGeom>
          <a:solidFill>
            <a:srgbClr val="1B7A4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</a:rPr>
              <a:t>PHASE 1 · CURRENT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737360" cy="1051560"/>
          </a:xfrm>
          <a:prstGeom prst="roundRect">
            <a:avLst>
              <a:gd name="adj" fmla="val 10435"/>
            </a:avLst>
          </a:prstGeom>
          <a:solidFill>
            <a:srgbClr val="1B7A43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764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Fi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879092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1645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React Frontend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2121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D3A8"/>
                </a:solidFill>
              </a:rPr>
              <a:t>UI components</a:t>
            </a:r>
            <a:endParaRPr lang="en-US" sz="1000" dirty="0"/>
          </a:p>
        </p:txBody>
      </p:sp>
      <p:pic>
        <p:nvPicPr>
          <p:cNvPr id="10" name="Image 1" descr="FiArrowRigh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856232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651760" y="1463040"/>
            <a:ext cx="1737360" cy="1051560"/>
          </a:xfrm>
          <a:prstGeom prst="roundRect">
            <a:avLst>
              <a:gd name="adj" fmla="val 10435"/>
            </a:avLst>
          </a:prstGeom>
          <a:solidFill>
            <a:srgbClr val="1B7A43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788920" y="1764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FiLay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3220" y="1879092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337560" y="1645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State Management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3337560" y="2121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D3A8"/>
                </a:solidFill>
              </a:rPr>
              <a:t>Context API</a:t>
            </a:r>
            <a:endParaRPr lang="en-US" sz="1000" dirty="0"/>
          </a:p>
        </p:txBody>
      </p:sp>
      <p:pic>
        <p:nvPicPr>
          <p:cNvPr id="16" name="Image 3" descr="FiArrowRigh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856232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754880" y="1463040"/>
            <a:ext cx="1737360" cy="1051560"/>
          </a:xfrm>
          <a:prstGeom prst="roundRect">
            <a:avLst>
              <a:gd name="adj" fmla="val 10435"/>
            </a:avLst>
          </a:prstGeom>
          <a:solidFill>
            <a:srgbClr val="1B7A43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892040" y="1764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4" descr="FiCod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6340" y="1879092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440680" y="1645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Service Layer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5440680" y="2121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D3A8"/>
                </a:solidFill>
              </a:rPr>
              <a:t>Service abstraction</a:t>
            </a:r>
            <a:endParaRPr lang="en-US" sz="1000" dirty="0"/>
          </a:p>
        </p:txBody>
      </p:sp>
      <p:pic>
        <p:nvPicPr>
          <p:cNvPr id="22" name="Image 5" descr="FiArrowRigh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1856232"/>
            <a:ext cx="274320" cy="27432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858000" y="1463040"/>
            <a:ext cx="1737360" cy="1051560"/>
          </a:xfrm>
          <a:prstGeom prst="roundRect">
            <a:avLst>
              <a:gd name="adj" fmla="val 10435"/>
            </a:avLst>
          </a:prstGeom>
          <a:solidFill>
            <a:srgbClr val="1B7A43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995160" y="1764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6" descr="FiDatabas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9460" y="1879092"/>
            <a:ext cx="228600" cy="22860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543800" y="16459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Mock JSON + LocalStorage</a:t>
            </a:r>
            <a:endParaRPr lang="en-US" sz="1200" dirty="0"/>
          </a:p>
        </p:txBody>
      </p:sp>
      <p:sp>
        <p:nvSpPr>
          <p:cNvPr id="27" name="Text 18"/>
          <p:cNvSpPr txBox="1"/>
          <p:nvPr/>
        </p:nvSpPr>
        <p:spPr>
          <a:xfrm>
            <a:off x="7543800" y="21214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FD3A8"/>
                </a:solidFill>
              </a:rPr>
              <a:t>Catalog &amp; user data</a:t>
            </a:r>
            <a:endParaRPr lang="en-US" sz="1000" dirty="0"/>
          </a:p>
        </p:txBody>
      </p:sp>
      <p:sp>
        <p:nvSpPr>
          <p:cNvPr id="28" name="Shape 19"/>
          <p:cNvSpPr/>
          <p:nvPr/>
        </p:nvSpPr>
        <p:spPr>
          <a:xfrm>
            <a:off x="548640" y="2788920"/>
            <a:ext cx="3931920" cy="274320"/>
          </a:xfrm>
          <a:prstGeom prst="roundRect">
            <a:avLst>
              <a:gd name="adj" fmla="val 166667"/>
            </a:avLst>
          </a:prstGeom>
          <a:solidFill>
            <a:srgbClr val="FFFFFF"/>
          </a:solidFill>
          <a:ln/>
        </p:spPr>
      </p:sp>
      <p:sp>
        <p:nvSpPr>
          <p:cNvPr id="29" name="Text 20"/>
          <p:cNvSpPr txBox="1"/>
          <p:nvPr/>
        </p:nvSpPr>
        <p:spPr>
          <a:xfrm>
            <a:off x="54864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4B5D54"/>
                </a:solidFill>
              </a:rPr>
              <a:t>FUTURE PHASE · PLANNED, NOT YET IMPLEMENTED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548640" y="2788920"/>
            <a:ext cx="3931920" cy="274320"/>
          </a:xfrm>
          <a:prstGeom prst="roundRect">
            <a:avLst>
              <a:gd name="adj" fmla="val 166667"/>
            </a:avLst>
          </a:prstGeom>
          <a:ln w="12700">
            <a:solidFill>
              <a:srgbClr val="8A9A90"/>
            </a:solidFill>
            <a:prstDash val="dash"/>
          </a:ln>
        </p:spPr>
      </p:sp>
      <p:sp>
        <p:nvSpPr>
          <p:cNvPr id="31" name="Shape 22"/>
          <p:cNvSpPr/>
          <p:nvPr/>
        </p:nvSpPr>
        <p:spPr>
          <a:xfrm>
            <a:off x="548640" y="3200400"/>
            <a:ext cx="17373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8A9A90"/>
            </a:solidFill>
            <a:prstDash val="dash"/>
          </a:ln>
        </p:spPr>
      </p:sp>
      <p:sp>
        <p:nvSpPr>
          <p:cNvPr id="32" name="Shape 23"/>
          <p:cNvSpPr/>
          <p:nvPr/>
        </p:nvSpPr>
        <p:spPr>
          <a:xfrm>
            <a:off x="708660" y="3360420"/>
            <a:ext cx="411480" cy="411480"/>
          </a:xfrm>
          <a:prstGeom prst="ellipse">
            <a:avLst/>
          </a:prstGeom>
          <a:solidFill>
            <a:srgbClr val="E7F5EC"/>
          </a:solidFill>
          <a:ln/>
        </p:spPr>
      </p:sp>
      <p:pic>
        <p:nvPicPr>
          <p:cNvPr id="33" name="Image 7" descr="FiCod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530" y="3463290"/>
            <a:ext cx="205740" cy="20574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1234440" y="32004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54"/>
                </a:solidFill>
              </a:rPr>
              <a:t>Data Service Layer</a:t>
            </a:r>
            <a:endParaRPr lang="en-US" sz="1200" dirty="0"/>
          </a:p>
        </p:txBody>
      </p:sp>
      <p:pic>
        <p:nvPicPr>
          <p:cNvPr id="35" name="Image 8" descr="FiArrowRigh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31720" y="3429000"/>
            <a:ext cx="274320" cy="274320"/>
          </a:xfrm>
          <a:prstGeom prst="rect">
            <a:avLst/>
          </a:prstGeom>
        </p:spPr>
      </p:pic>
      <p:sp>
        <p:nvSpPr>
          <p:cNvPr id="36" name="Shape 25"/>
          <p:cNvSpPr/>
          <p:nvPr/>
        </p:nvSpPr>
        <p:spPr>
          <a:xfrm>
            <a:off x="2651760" y="3200400"/>
            <a:ext cx="17373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8A9A90"/>
            </a:solidFill>
            <a:prstDash val="dash"/>
          </a:ln>
        </p:spPr>
      </p:sp>
      <p:sp>
        <p:nvSpPr>
          <p:cNvPr id="37" name="Shape 26"/>
          <p:cNvSpPr/>
          <p:nvPr/>
        </p:nvSpPr>
        <p:spPr>
          <a:xfrm>
            <a:off x="2811780" y="3360420"/>
            <a:ext cx="411480" cy="411480"/>
          </a:xfrm>
          <a:prstGeom prst="ellipse">
            <a:avLst/>
          </a:prstGeom>
          <a:solidFill>
            <a:srgbClr val="E7F5EC"/>
          </a:solidFill>
          <a:ln/>
        </p:spPr>
      </p:sp>
      <p:pic>
        <p:nvPicPr>
          <p:cNvPr id="38" name="Image 9" descr="FiCloud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14650" y="3463290"/>
            <a:ext cx="205740" cy="205740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3337560" y="32004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54"/>
                </a:solidFill>
              </a:rPr>
              <a:t>REST API</a:t>
            </a:r>
            <a:endParaRPr lang="en-US" sz="1200" dirty="0"/>
          </a:p>
        </p:txBody>
      </p:sp>
      <p:pic>
        <p:nvPicPr>
          <p:cNvPr id="40" name="Image 10" descr="FiArrowRight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4840" y="3429000"/>
            <a:ext cx="274320" cy="274320"/>
          </a:xfrm>
          <a:prstGeom prst="rect">
            <a:avLst/>
          </a:prstGeom>
        </p:spPr>
      </p:pic>
      <p:sp>
        <p:nvSpPr>
          <p:cNvPr id="41" name="Shape 28"/>
          <p:cNvSpPr/>
          <p:nvPr/>
        </p:nvSpPr>
        <p:spPr>
          <a:xfrm>
            <a:off x="4754880" y="3200400"/>
            <a:ext cx="17373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8A9A90"/>
            </a:solidFill>
            <a:prstDash val="dash"/>
          </a:ln>
        </p:spPr>
      </p:sp>
      <p:sp>
        <p:nvSpPr>
          <p:cNvPr id="42" name="Shape 29"/>
          <p:cNvSpPr/>
          <p:nvPr/>
        </p:nvSpPr>
        <p:spPr>
          <a:xfrm>
            <a:off x="4914900" y="3360420"/>
            <a:ext cx="411480" cy="411480"/>
          </a:xfrm>
          <a:prstGeom prst="ellipse">
            <a:avLst/>
          </a:prstGeom>
          <a:solidFill>
            <a:srgbClr val="E7F5EC"/>
          </a:solidFill>
          <a:ln/>
        </p:spPr>
      </p:sp>
      <p:pic>
        <p:nvPicPr>
          <p:cNvPr id="43" name="Image 11" descr="FiServer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17770" y="3463290"/>
            <a:ext cx="205740" cy="205740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5440680" y="32004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54"/>
                </a:solidFill>
              </a:rPr>
              <a:t>Node.js / Express</a:t>
            </a:r>
            <a:endParaRPr lang="en-US" sz="1200" dirty="0"/>
          </a:p>
        </p:txBody>
      </p:sp>
      <p:pic>
        <p:nvPicPr>
          <p:cNvPr id="45" name="Image 12" descr="FiArrowRight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7960" y="3429000"/>
            <a:ext cx="274320" cy="274320"/>
          </a:xfrm>
          <a:prstGeom prst="rect">
            <a:avLst/>
          </a:prstGeom>
        </p:spPr>
      </p:pic>
      <p:sp>
        <p:nvSpPr>
          <p:cNvPr id="46" name="Shape 31"/>
          <p:cNvSpPr/>
          <p:nvPr/>
        </p:nvSpPr>
        <p:spPr>
          <a:xfrm>
            <a:off x="6858000" y="3200400"/>
            <a:ext cx="17373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8A9A90"/>
            </a:solidFill>
            <a:prstDash val="dash"/>
          </a:ln>
        </p:spPr>
      </p:sp>
      <p:sp>
        <p:nvSpPr>
          <p:cNvPr id="47" name="Shape 32"/>
          <p:cNvSpPr/>
          <p:nvPr/>
        </p:nvSpPr>
        <p:spPr>
          <a:xfrm>
            <a:off x="7018020" y="3360420"/>
            <a:ext cx="411480" cy="411480"/>
          </a:xfrm>
          <a:prstGeom prst="ellipse">
            <a:avLst/>
          </a:prstGeom>
          <a:solidFill>
            <a:srgbClr val="E7F5EC"/>
          </a:solidFill>
          <a:ln/>
        </p:spPr>
      </p:sp>
      <p:pic>
        <p:nvPicPr>
          <p:cNvPr id="48" name="Image 13" descr="FiDatabas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20890" y="3463290"/>
            <a:ext cx="205740" cy="205740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7543800" y="32004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B5D54"/>
                </a:solidFill>
              </a:rPr>
              <a:t>Database</a:t>
            </a:r>
            <a:endParaRPr lang="en-US" sz="1200" dirty="0"/>
          </a:p>
        </p:txBody>
      </p:sp>
      <p:sp>
        <p:nvSpPr>
          <p:cNvPr id="50" name="Text 34"/>
          <p:cNvSpPr txBox="1"/>
          <p:nvPr/>
        </p:nvSpPr>
        <p:spPr>
          <a:xfrm>
            <a:off x="548640" y="42245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B5D54"/>
                </a:solidFill>
              </a:rPr>
              <a:t>Future integrations only:</a:t>
            </a:r>
            <a:endParaRPr lang="en-US" sz="1200" dirty="0"/>
          </a:p>
        </p:txBody>
      </p:sp>
      <p:sp>
        <p:nvSpPr>
          <p:cNvPr id="51" name="Shape 35"/>
          <p:cNvSpPr/>
          <p:nvPr/>
        </p:nvSpPr>
        <p:spPr>
          <a:xfrm>
            <a:off x="2331720" y="4224528"/>
            <a:ext cx="1234440" cy="274320"/>
          </a:xfrm>
          <a:prstGeom prst="roundRect">
            <a:avLst>
              <a:gd name="adj" fmla="val 166667"/>
            </a:avLst>
          </a:prstGeom>
          <a:solidFill>
            <a:srgbClr val="E7F5EC"/>
          </a:solidFill>
          <a:ln/>
        </p:spPr>
      </p:sp>
      <p:sp>
        <p:nvSpPr>
          <p:cNvPr id="52" name="Text 36"/>
          <p:cNvSpPr txBox="1"/>
          <p:nvPr/>
        </p:nvSpPr>
        <p:spPr>
          <a:xfrm>
            <a:off x="2331720" y="42245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B7A43"/>
                </a:solidFill>
              </a:rPr>
              <a:t>Maps API</a:t>
            </a:r>
            <a:endParaRPr lang="en-US" sz="1050" dirty="0"/>
          </a:p>
        </p:txBody>
      </p:sp>
      <p:sp>
        <p:nvSpPr>
          <p:cNvPr id="53" name="Shape 37"/>
          <p:cNvSpPr/>
          <p:nvPr/>
        </p:nvSpPr>
        <p:spPr>
          <a:xfrm>
            <a:off x="3703320" y="4224528"/>
            <a:ext cx="1234440" cy="274320"/>
          </a:xfrm>
          <a:prstGeom prst="roundRect">
            <a:avLst>
              <a:gd name="adj" fmla="val 166667"/>
            </a:avLst>
          </a:prstGeom>
          <a:solidFill>
            <a:srgbClr val="E7F5EC"/>
          </a:solidFill>
          <a:ln/>
        </p:spPr>
      </p:sp>
      <p:sp>
        <p:nvSpPr>
          <p:cNvPr id="54" name="Text 38"/>
          <p:cNvSpPr txBox="1"/>
          <p:nvPr/>
        </p:nvSpPr>
        <p:spPr>
          <a:xfrm>
            <a:off x="3703320" y="42245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B7A43"/>
                </a:solidFill>
              </a:rPr>
              <a:t>Weather API</a:t>
            </a:r>
            <a:endParaRPr lang="en-US" sz="1050" dirty="0"/>
          </a:p>
        </p:txBody>
      </p:sp>
      <p:sp>
        <p:nvSpPr>
          <p:cNvPr id="55" name="Shape 39"/>
          <p:cNvSpPr/>
          <p:nvPr/>
        </p:nvSpPr>
        <p:spPr>
          <a:xfrm>
            <a:off x="5074920" y="4224528"/>
            <a:ext cx="1234440" cy="274320"/>
          </a:xfrm>
          <a:prstGeom prst="roundRect">
            <a:avLst>
              <a:gd name="adj" fmla="val 166667"/>
            </a:avLst>
          </a:prstGeom>
          <a:solidFill>
            <a:srgbClr val="E7F5EC"/>
          </a:solidFill>
          <a:ln/>
        </p:spPr>
      </p:sp>
      <p:sp>
        <p:nvSpPr>
          <p:cNvPr id="56" name="Text 40"/>
          <p:cNvSpPr txBox="1"/>
          <p:nvPr/>
        </p:nvSpPr>
        <p:spPr>
          <a:xfrm>
            <a:off x="5074920" y="42245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1B7A43"/>
                </a:solidFill>
              </a:rPr>
              <a:t>Currency API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3D2E"/>
                </a:solidFill>
              </a:rPr>
              <a:t>UI/UX &amp; Demonstration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F6FAF7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66928" y="1298448"/>
            <a:ext cx="384048" cy="384048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5" name="Image 0" descr="Fi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394460"/>
            <a:ext cx="192024" cy="1920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66928" y="1755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22"/>
                </a:solidFill>
              </a:rPr>
              <a:t>Home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194560" y="118872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F6FAF7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304288" y="1298448"/>
            <a:ext cx="384048" cy="384048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9" name="Image 1" descr="Fi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1394460"/>
            <a:ext cx="192024" cy="1920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304288" y="1755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22"/>
                </a:solidFill>
              </a:rPr>
              <a:t>Destination Listing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931920" y="118872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F6FAF7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041648" y="1298448"/>
            <a:ext cx="384048" cy="384048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13" name="Image 2" descr="FiFileTex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660" y="1394460"/>
            <a:ext cx="192024" cy="1920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41648" y="17556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22"/>
                </a:solidFill>
              </a:rPr>
              <a:t>Destination Details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457200" y="224028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F6FAF7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566928" y="2350008"/>
            <a:ext cx="384048" cy="384048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17" name="Image 3" descr="FiPlusCir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2446020"/>
            <a:ext cx="192024" cy="1920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66928" y="2807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22"/>
                </a:solidFill>
              </a:rPr>
              <a:t>Trip Creation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2194560" y="224028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F6FAF7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2304288" y="2350008"/>
            <a:ext cx="384048" cy="384048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21" name="Image 4" descr="FiLis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0300" y="2446020"/>
            <a:ext cx="192024" cy="19202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2304288" y="2807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22"/>
                </a:solidFill>
              </a:rPr>
              <a:t>Itinerary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3931920" y="224028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F6FAF7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4041648" y="2350008"/>
            <a:ext cx="384048" cy="384048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25" name="Image 5" descr="FiDollarSig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7660" y="2446020"/>
            <a:ext cx="192024" cy="19202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4041648" y="28072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22"/>
                </a:solidFill>
              </a:rPr>
              <a:t>Budget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457200" y="329184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F6FAF7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66928" y="3401568"/>
            <a:ext cx="384048" cy="384048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29" name="Image 6" descr="FiCheckSquar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" y="3497580"/>
            <a:ext cx="192024" cy="19202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566928" y="3858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22"/>
                </a:solidFill>
              </a:rPr>
              <a:t>Packing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2194560" y="329184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F6FAF7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2304288" y="3401568"/>
            <a:ext cx="384048" cy="384048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33" name="Image 7" descr="FiGrid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0300" y="3497580"/>
            <a:ext cx="192024" cy="192024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2304288" y="3858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22"/>
                </a:solidFill>
              </a:rPr>
              <a:t>Dashboard</a:t>
            </a:r>
            <a:endParaRPr lang="en-US" sz="1150" dirty="0"/>
          </a:p>
        </p:txBody>
      </p:sp>
      <p:sp>
        <p:nvSpPr>
          <p:cNvPr id="35" name="Shape 25"/>
          <p:cNvSpPr/>
          <p:nvPr/>
        </p:nvSpPr>
        <p:spPr>
          <a:xfrm>
            <a:off x="3931920" y="329184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F6FAF7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4041648" y="3401568"/>
            <a:ext cx="384048" cy="384048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37" name="Image 8" descr="FiSetting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37660" y="3497580"/>
            <a:ext cx="192024" cy="192024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4041648" y="3858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22"/>
                </a:solidFill>
              </a:rPr>
              <a:t>Admin</a:t>
            </a:r>
            <a:endParaRPr lang="en-US" sz="1150" dirty="0"/>
          </a:p>
        </p:txBody>
      </p:sp>
      <p:sp>
        <p:nvSpPr>
          <p:cNvPr id="39" name="Text 28"/>
          <p:cNvSpPr txBox="1"/>
          <p:nvPr/>
        </p:nvSpPr>
        <p:spPr>
          <a:xfrm>
            <a:off x="457200" y="43891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B5D54"/>
                </a:solidFill>
              </a:rPr>
              <a:t>Major interfaces defined in the SRS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5843016" y="1179576"/>
            <a:ext cx="384048" cy="384048"/>
          </a:xfrm>
          <a:prstGeom prst="ellipse">
            <a:avLst/>
          </a:prstGeom>
          <a:solidFill>
            <a:srgbClr val="E7F5EC"/>
          </a:solidFill>
          <a:ln/>
        </p:spPr>
      </p:sp>
      <p:pic>
        <p:nvPicPr>
          <p:cNvPr id="41" name="Image 9" descr="FiLayer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39028" y="1275588"/>
            <a:ext cx="192024" cy="192024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6355080" y="1188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2"/>
                </a:solidFill>
              </a:rPr>
              <a:t>Green travel-inspired design</a:t>
            </a:r>
            <a:endParaRPr lang="en-US" sz="1400" dirty="0"/>
          </a:p>
        </p:txBody>
      </p:sp>
      <p:sp>
        <p:nvSpPr>
          <p:cNvPr id="43" name="Shape 31"/>
          <p:cNvSpPr/>
          <p:nvPr/>
        </p:nvSpPr>
        <p:spPr>
          <a:xfrm>
            <a:off x="5843016" y="1728216"/>
            <a:ext cx="384048" cy="384048"/>
          </a:xfrm>
          <a:prstGeom prst="ellipse">
            <a:avLst/>
          </a:prstGeom>
          <a:solidFill>
            <a:srgbClr val="E7F5EC"/>
          </a:solidFill>
          <a:ln/>
        </p:spPr>
      </p:sp>
      <p:pic>
        <p:nvPicPr>
          <p:cNvPr id="44" name="Image 10" descr="FiSmartphon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9028" y="1824228"/>
            <a:ext cx="192024" cy="192024"/>
          </a:xfrm>
          <a:prstGeom prst="rect">
            <a:avLst/>
          </a:prstGeom>
        </p:spPr>
      </p:pic>
      <p:sp>
        <p:nvSpPr>
          <p:cNvPr id="45" name="Text 32"/>
          <p:cNvSpPr txBox="1"/>
          <p:nvPr/>
        </p:nvSpPr>
        <p:spPr>
          <a:xfrm>
            <a:off x="635508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2"/>
                </a:solidFill>
              </a:rPr>
              <a:t>Responsive UI</a:t>
            </a:r>
            <a:endParaRPr lang="en-US" sz="1400" dirty="0"/>
          </a:p>
        </p:txBody>
      </p:sp>
      <p:sp>
        <p:nvSpPr>
          <p:cNvPr id="46" name="Shape 33"/>
          <p:cNvSpPr/>
          <p:nvPr/>
        </p:nvSpPr>
        <p:spPr>
          <a:xfrm>
            <a:off x="5843016" y="2276856"/>
            <a:ext cx="384048" cy="384048"/>
          </a:xfrm>
          <a:prstGeom prst="ellipse">
            <a:avLst/>
          </a:prstGeom>
          <a:solidFill>
            <a:srgbClr val="E7F5EC"/>
          </a:solidFill>
          <a:ln/>
        </p:spPr>
      </p:sp>
      <p:pic>
        <p:nvPicPr>
          <p:cNvPr id="47" name="Image 11" descr="FiCompas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39028" y="2372868"/>
            <a:ext cx="192024" cy="192024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635508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2"/>
                </a:solidFill>
              </a:rPr>
              <a:t>User-friendly navigation</a:t>
            </a:r>
            <a:endParaRPr lang="en-US" sz="1400" dirty="0"/>
          </a:p>
        </p:txBody>
      </p:sp>
      <p:sp>
        <p:nvSpPr>
          <p:cNvPr id="49" name="Shape 35"/>
          <p:cNvSpPr/>
          <p:nvPr/>
        </p:nvSpPr>
        <p:spPr>
          <a:xfrm>
            <a:off x="5852160" y="2926080"/>
            <a:ext cx="2834640" cy="1645920"/>
          </a:xfrm>
          <a:prstGeom prst="roundRect">
            <a:avLst>
              <a:gd name="adj" fmla="val 6667"/>
            </a:avLst>
          </a:prstGeom>
          <a:solidFill>
            <a:srgbClr val="0F3D2E"/>
          </a:solidFill>
          <a:ln/>
          <a:effectLst>
            <a:outerShdw sx="100000" sy="100000" kx="0" ky="0" algn="bl" rotWithShape="0" blurRad="101600" dist="25400" dir="5400000">
              <a:srgbClr val="0F3D2E">
                <a:alpha val="14000"/>
              </a:srgbClr>
            </a:outerShdw>
          </a:effectLst>
        </p:spPr>
      </p:sp>
      <p:sp>
        <p:nvSpPr>
          <p:cNvPr id="50" name="Shape 36"/>
          <p:cNvSpPr/>
          <p:nvPr/>
        </p:nvSpPr>
        <p:spPr>
          <a:xfrm>
            <a:off x="6035040" y="3063240"/>
            <a:ext cx="1371600" cy="274320"/>
          </a:xfrm>
          <a:prstGeom prst="roundRect">
            <a:avLst>
              <a:gd name="adj" fmla="val 166667"/>
            </a:avLst>
          </a:prstGeom>
          <a:solidFill>
            <a:srgbClr val="F2B84B"/>
          </a:solidFill>
          <a:ln/>
        </p:spPr>
      </p:sp>
      <p:sp>
        <p:nvSpPr>
          <p:cNvPr id="51" name="Text 37"/>
          <p:cNvSpPr txBox="1"/>
          <p:nvPr/>
        </p:nvSpPr>
        <p:spPr>
          <a:xfrm>
            <a:off x="6035040" y="3063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0F3D2E"/>
                </a:solidFill>
              </a:rPr>
              <a:t>TODAY'S DEMO</a:t>
            </a:r>
            <a:endParaRPr lang="en-US" sz="1050" dirty="0"/>
          </a:p>
        </p:txBody>
      </p:sp>
      <p:sp>
        <p:nvSpPr>
          <p:cNvPr id="52" name="Shape 38"/>
          <p:cNvSpPr/>
          <p:nvPr/>
        </p:nvSpPr>
        <p:spPr>
          <a:xfrm>
            <a:off x="6035040" y="3474720"/>
            <a:ext cx="365760" cy="365760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53" name="Image 12" descr="FiFigma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26480" y="3566160"/>
            <a:ext cx="182880" cy="182880"/>
          </a:xfrm>
          <a:prstGeom prst="rect">
            <a:avLst/>
          </a:prstGeom>
        </p:spPr>
      </p:pic>
      <p:sp>
        <p:nvSpPr>
          <p:cNvPr id="54" name="Text 39"/>
          <p:cNvSpPr txBox="1"/>
          <p:nvPr/>
        </p:nvSpPr>
        <p:spPr>
          <a:xfrm>
            <a:off x="6492240" y="3474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Figma User Journey / User Flow</a:t>
            </a:r>
            <a:endParaRPr lang="en-US" sz="1250" dirty="0"/>
          </a:p>
        </p:txBody>
      </p:sp>
      <p:sp>
        <p:nvSpPr>
          <p:cNvPr id="55" name="Shape 40"/>
          <p:cNvSpPr/>
          <p:nvPr/>
        </p:nvSpPr>
        <p:spPr>
          <a:xfrm>
            <a:off x="6035040" y="3931920"/>
            <a:ext cx="365760" cy="365760"/>
          </a:xfrm>
          <a:prstGeom prst="ellipse">
            <a:avLst/>
          </a:prstGeom>
          <a:solidFill>
            <a:srgbClr val="1B7A43"/>
          </a:solidFill>
          <a:ln/>
        </p:spPr>
      </p:sp>
      <p:pic>
        <p:nvPicPr>
          <p:cNvPr id="56" name="Image 13" descr="FiCode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26480" y="4023360"/>
            <a:ext cx="182880" cy="182880"/>
          </a:xfrm>
          <a:prstGeom prst="rect">
            <a:avLst/>
          </a:prstGeom>
        </p:spPr>
      </p:pic>
      <p:sp>
        <p:nvSpPr>
          <p:cNvPr id="57" name="Text 41"/>
          <p:cNvSpPr txBox="1"/>
          <p:nvPr/>
        </p:nvSpPr>
        <p:spPr>
          <a:xfrm>
            <a:off x="6492240" y="3931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Static HTML Frontend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Future Scope &amp;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560320" cy="274320"/>
          </a:xfrm>
          <a:prstGeom prst="roundRect">
            <a:avLst>
              <a:gd name="adj" fmla="val 166667"/>
            </a:avLst>
          </a:prstGeom>
          <a:solidFill>
            <a:srgbClr val="1B7A4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</a:rPr>
              <a:t>FUTURE SCOPE · NOT IN PHASE 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286000" cy="548640"/>
          </a:xfrm>
          <a:prstGeom prst="roundRect">
            <a:avLst>
              <a:gd name="adj" fmla="val 20000"/>
            </a:avLst>
          </a:prstGeom>
          <a:solidFill>
            <a:srgbClr val="1B7A43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54480"/>
            <a:ext cx="365760" cy="36576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7" name="Image 0" descr="FiServ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182880" cy="1828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 &amp; Database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017520" y="1463040"/>
            <a:ext cx="2286000" cy="548640"/>
          </a:xfrm>
          <a:prstGeom prst="roundRect">
            <a:avLst>
              <a:gd name="adj" fmla="val 20000"/>
            </a:avLst>
          </a:prstGeom>
          <a:solidFill>
            <a:srgbClr val="1B7A43">
              <a:alpha val="6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154680" y="1554480"/>
            <a:ext cx="365760" cy="36576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1" name="Image 1" descr="FiL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64592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11880" y="1463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Authentication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121408"/>
            <a:ext cx="2286000" cy="548640"/>
          </a:xfrm>
          <a:prstGeom prst="roundRect">
            <a:avLst>
              <a:gd name="adj" fmla="val 20000"/>
            </a:avLst>
          </a:prstGeom>
          <a:solidFill>
            <a:srgbClr val="1B7A43">
              <a:alpha val="65000"/>
            </a:srgbClr>
          </a:solidFill>
          <a:ln/>
        </p:spPr>
      </p:sp>
      <p:sp>
        <p:nvSpPr>
          <p:cNvPr id="14" name="Shape 10"/>
          <p:cNvSpPr/>
          <p:nvPr/>
        </p:nvSpPr>
        <p:spPr>
          <a:xfrm>
            <a:off x="685800" y="2212848"/>
            <a:ext cx="365760" cy="36576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5" name="Image 2" descr="FiGlob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04288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43000" y="21214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Maps · Weather · Currency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017520" y="2121408"/>
            <a:ext cx="2286000" cy="548640"/>
          </a:xfrm>
          <a:prstGeom prst="roundRect">
            <a:avLst>
              <a:gd name="adj" fmla="val 20000"/>
            </a:avLst>
          </a:prstGeom>
          <a:solidFill>
            <a:srgbClr val="1B7A43">
              <a:alpha val="65000"/>
            </a:srgbClr>
          </a:solidFill>
          <a:ln/>
        </p:spPr>
      </p:sp>
      <p:sp>
        <p:nvSpPr>
          <p:cNvPr id="18" name="Shape 13"/>
          <p:cNvSpPr/>
          <p:nvPr/>
        </p:nvSpPr>
        <p:spPr>
          <a:xfrm>
            <a:off x="3154680" y="2212848"/>
            <a:ext cx="365760" cy="36576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19" name="Image 3" descr="FiCreditCa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2304288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611880" y="212140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Booking &amp; Payments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2779776"/>
            <a:ext cx="2286000" cy="548640"/>
          </a:xfrm>
          <a:prstGeom prst="roundRect">
            <a:avLst>
              <a:gd name="adj" fmla="val 20000"/>
            </a:avLst>
          </a:prstGeom>
          <a:solidFill>
            <a:srgbClr val="1B7A43">
              <a:alpha val="65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685800" y="2871216"/>
            <a:ext cx="365760" cy="36576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23" name="Image 4" descr="FiBel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962656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143000" y="277977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Notifications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3017520" y="2779776"/>
            <a:ext cx="2286000" cy="548640"/>
          </a:xfrm>
          <a:prstGeom prst="roundRect">
            <a:avLst>
              <a:gd name="adj" fmla="val 20000"/>
            </a:avLst>
          </a:prstGeom>
          <a:solidFill>
            <a:srgbClr val="1B7A43">
              <a:alpha val="65000"/>
            </a:srgbClr>
          </a:solidFill>
          <a:ln/>
        </p:spPr>
      </p:sp>
      <p:sp>
        <p:nvSpPr>
          <p:cNvPr id="26" name="Shape 19"/>
          <p:cNvSpPr/>
          <p:nvPr/>
        </p:nvSpPr>
        <p:spPr>
          <a:xfrm>
            <a:off x="3154680" y="2871216"/>
            <a:ext cx="365760" cy="365760"/>
          </a:xfrm>
          <a:prstGeom prst="ellipse">
            <a:avLst/>
          </a:prstGeom>
          <a:solidFill>
            <a:srgbClr val="F2B84B"/>
          </a:solidFill>
          <a:ln/>
        </p:spPr>
      </p:sp>
      <p:pic>
        <p:nvPicPr>
          <p:cNvPr id="27" name="Image 5" descr="FiUse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2962656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3611880" y="277977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Collaborative Planning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548640" y="36118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F2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One organized trip. A simpler way to travel.</a:t>
            </a:r>
            <a:endParaRPr lang="en-US" sz="2200" dirty="0"/>
          </a:p>
        </p:txBody>
      </p:sp>
      <p:sp>
        <p:nvSpPr>
          <p:cNvPr id="30" name="Shape 22"/>
          <p:cNvSpPr/>
          <p:nvPr/>
        </p:nvSpPr>
        <p:spPr>
          <a:xfrm>
            <a:off x="5897880" y="1371600"/>
            <a:ext cx="2743200" cy="2743200"/>
          </a:xfrm>
          <a:prstGeom prst="ellipse">
            <a:avLst/>
          </a:prstGeom>
          <a:solidFill>
            <a:srgbClr val="1B7A43">
              <a:alpha val="70000"/>
            </a:srgbClr>
          </a:solidFill>
          <a:ln/>
        </p:spPr>
      </p:sp>
      <p:sp>
        <p:nvSpPr>
          <p:cNvPr id="31" name="Shape 23"/>
          <p:cNvSpPr/>
          <p:nvPr/>
        </p:nvSpPr>
        <p:spPr>
          <a:xfrm>
            <a:off x="6217920" y="1691640"/>
            <a:ext cx="2103120" cy="2103120"/>
          </a:xfrm>
          <a:prstGeom prst="ellipse">
            <a:avLst/>
          </a:prstGeom>
          <a:solidFill>
            <a:srgbClr val="1B7A43"/>
          </a:solidFill>
          <a:ln/>
        </p:spPr>
      </p:sp>
      <p:sp>
        <p:nvSpPr>
          <p:cNvPr id="32" name="Text 24"/>
          <p:cNvSpPr txBox="1"/>
          <p:nvPr/>
        </p:nvSpPr>
        <p:spPr>
          <a:xfrm>
            <a:off x="6217920" y="22402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2834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B84B"/>
                </a:solidFill>
              </a:rPr>
              <a:t>Questions?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D3A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ipEase">
  <a:themeElements>
    <a:clrScheme name="TripEase">
      <a:dk1>
        <a:srgbClr val="1B2A22"/>
      </a:dk1>
      <a:lt1>
        <a:srgbClr val="FFFFFF"/>
      </a:lt1>
      <a:dk2>
        <a:srgbClr val="0F3D2E"/>
      </a:dk2>
      <a:lt2>
        <a:srgbClr val="E7F5EC"/>
      </a:lt2>
      <a:accent1>
        <a:srgbClr val="1B7A43"/>
      </a:accent1>
      <a:accent2>
        <a:srgbClr val="2E9E5B"/>
      </a:accent2>
      <a:accent3>
        <a:srgbClr val="F2B84B"/>
      </a:accent3>
      <a:accent4>
        <a:srgbClr val="BFE3CC"/>
      </a:accent4>
      <a:accent5>
        <a:srgbClr val="4B5D54"/>
      </a:accent5>
      <a:accent6>
        <a:srgbClr val="8FD3A8"/>
      </a:accent6>
      <a:hlink>
        <a:srgbClr val="1B7A43"/>
      </a:hlink>
      <a:folHlink>
        <a:srgbClr val="4B5D54"/>
      </a:folHlink>
    </a:clrScheme>
    <a:fontScheme name="TripEa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TripEase – Smart Trip Management System</dc:title>
  <dc:subject>PptxGenJS Presentation</dc:subject>
  <dc:creator>PptxGenJS</dc:creator>
  <cp:lastModifiedBy>PptxGenJS</cp:lastModifiedBy>
  <cp:revision>1</cp:revision>
  <dcterms:created xsi:type="dcterms:W3CDTF">2026-10-08T15:52:49Z</dcterms:created>
  <dcterms:modified xsi:type="dcterms:W3CDTF">2026-10-08T15:52:49Z</dcterms:modified>
</cp:coreProperties>
</file>